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Modular" charset="1" panose="000008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51" t="-10551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65201" y="1580859"/>
            <a:ext cx="2976010" cy="2943791"/>
            <a:chOff x="0" y="0"/>
            <a:chExt cx="901862" cy="8920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1862" cy="892098"/>
            </a:xfrm>
            <a:custGeom>
              <a:avLst/>
              <a:gdLst/>
              <a:ahLst/>
              <a:cxnLst/>
              <a:rect r="r" b="b" t="t" l="l"/>
              <a:pathLst>
                <a:path h="892098" w="901862">
                  <a:moveTo>
                    <a:pt x="59833" y="0"/>
                  </a:moveTo>
                  <a:lnTo>
                    <a:pt x="842029" y="0"/>
                  </a:lnTo>
                  <a:cubicBezTo>
                    <a:pt x="857897" y="0"/>
                    <a:pt x="873116" y="6304"/>
                    <a:pt x="884337" y="17525"/>
                  </a:cubicBezTo>
                  <a:cubicBezTo>
                    <a:pt x="895558" y="28746"/>
                    <a:pt x="901862" y="43964"/>
                    <a:pt x="901862" y="59833"/>
                  </a:cubicBezTo>
                  <a:lnTo>
                    <a:pt x="901862" y="832265"/>
                  </a:lnTo>
                  <a:cubicBezTo>
                    <a:pt x="901862" y="848134"/>
                    <a:pt x="895558" y="863352"/>
                    <a:pt x="884337" y="874573"/>
                  </a:cubicBezTo>
                  <a:cubicBezTo>
                    <a:pt x="873116" y="885794"/>
                    <a:pt x="857897" y="892098"/>
                    <a:pt x="842029" y="892098"/>
                  </a:cubicBezTo>
                  <a:lnTo>
                    <a:pt x="59833" y="892098"/>
                  </a:lnTo>
                  <a:cubicBezTo>
                    <a:pt x="43964" y="892098"/>
                    <a:pt x="28746" y="885794"/>
                    <a:pt x="17525" y="874573"/>
                  </a:cubicBezTo>
                  <a:cubicBezTo>
                    <a:pt x="6304" y="863352"/>
                    <a:pt x="0" y="848134"/>
                    <a:pt x="0" y="832265"/>
                  </a:cubicBezTo>
                  <a:lnTo>
                    <a:pt x="0" y="59833"/>
                  </a:lnTo>
                  <a:cubicBezTo>
                    <a:pt x="0" y="43964"/>
                    <a:pt x="6304" y="28746"/>
                    <a:pt x="17525" y="17525"/>
                  </a:cubicBezTo>
                  <a:cubicBezTo>
                    <a:pt x="28746" y="6304"/>
                    <a:pt x="43964" y="0"/>
                    <a:pt x="59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01862" cy="93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92964" y="4619900"/>
            <a:ext cx="2115522" cy="2092619"/>
            <a:chOff x="0" y="0"/>
            <a:chExt cx="641096" cy="6341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1096" cy="634155"/>
            </a:xfrm>
            <a:custGeom>
              <a:avLst/>
              <a:gdLst/>
              <a:ahLst/>
              <a:cxnLst/>
              <a:rect r="r" b="b" t="t" l="l"/>
              <a:pathLst>
                <a:path h="634155" w="641096">
                  <a:moveTo>
                    <a:pt x="80511" y="0"/>
                  </a:moveTo>
                  <a:lnTo>
                    <a:pt x="560585" y="0"/>
                  </a:lnTo>
                  <a:cubicBezTo>
                    <a:pt x="581938" y="0"/>
                    <a:pt x="602416" y="8482"/>
                    <a:pt x="617515" y="23581"/>
                  </a:cubicBezTo>
                  <a:cubicBezTo>
                    <a:pt x="632614" y="38680"/>
                    <a:pt x="641096" y="59158"/>
                    <a:pt x="641096" y="80511"/>
                  </a:cubicBezTo>
                  <a:lnTo>
                    <a:pt x="641096" y="553645"/>
                  </a:lnTo>
                  <a:cubicBezTo>
                    <a:pt x="641096" y="598110"/>
                    <a:pt x="605050" y="634155"/>
                    <a:pt x="560585" y="634155"/>
                  </a:cubicBezTo>
                  <a:lnTo>
                    <a:pt x="80511" y="634155"/>
                  </a:lnTo>
                  <a:cubicBezTo>
                    <a:pt x="59158" y="634155"/>
                    <a:pt x="38680" y="625673"/>
                    <a:pt x="23581" y="610574"/>
                  </a:cubicBezTo>
                  <a:cubicBezTo>
                    <a:pt x="8482" y="595476"/>
                    <a:pt x="0" y="574997"/>
                    <a:pt x="0" y="553645"/>
                  </a:cubicBezTo>
                  <a:lnTo>
                    <a:pt x="0" y="80511"/>
                  </a:lnTo>
                  <a:cubicBezTo>
                    <a:pt x="0" y="36046"/>
                    <a:pt x="36046" y="0"/>
                    <a:pt x="8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41096" cy="672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814522" y="1390288"/>
            <a:ext cx="9035174" cy="9035174"/>
          </a:xfrm>
          <a:custGeom>
            <a:avLst/>
            <a:gdLst/>
            <a:ahLst/>
            <a:cxnLst/>
            <a:rect r="r" b="b" t="t" l="l"/>
            <a:pathLst>
              <a:path h="9035174" w="9035174">
                <a:moveTo>
                  <a:pt x="0" y="0"/>
                </a:moveTo>
                <a:lnTo>
                  <a:pt x="9035174" y="0"/>
                </a:lnTo>
                <a:lnTo>
                  <a:pt x="9035174" y="9035174"/>
                </a:lnTo>
                <a:lnTo>
                  <a:pt x="0" y="9035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5616" y="601476"/>
            <a:ext cx="12367326" cy="175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2"/>
              </a:lnSpc>
            </a:pPr>
            <a:r>
              <a:rPr lang="en-US" b="true" sz="10280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Meet OLIVE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616" y="2578514"/>
            <a:ext cx="13593268" cy="84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5"/>
              </a:lnSpc>
            </a:pPr>
            <a:r>
              <a:rPr lang="en-US" b="true" sz="493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Your AI Shopping Assistant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6066" y="3866454"/>
            <a:ext cx="7389316" cy="27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6"/>
              </a:lnSpc>
            </a:pPr>
            <a:r>
              <a:rPr lang="en-US" sz="15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Intelligent Virtual Assistant for Retail — Powered by IBM Watson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7060" y="5959149"/>
            <a:ext cx="19702120" cy="4432977"/>
          </a:xfrm>
          <a:custGeom>
            <a:avLst/>
            <a:gdLst/>
            <a:ahLst/>
            <a:cxnLst/>
            <a:rect r="r" b="b" t="t" l="l"/>
            <a:pathLst>
              <a:path h="4432977" w="19702120">
                <a:moveTo>
                  <a:pt x="0" y="0"/>
                </a:moveTo>
                <a:lnTo>
                  <a:pt x="19702120" y="0"/>
                </a:lnTo>
                <a:lnTo>
                  <a:pt x="19702120" y="4432977"/>
                </a:lnTo>
                <a:lnTo>
                  <a:pt x="0" y="44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3883981" y="1430217"/>
            <a:ext cx="12911249" cy="7405737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3228" r="0" b="-322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94143" y="1177062"/>
            <a:ext cx="2276554" cy="190500"/>
            <a:chOff x="0" y="0"/>
            <a:chExt cx="599586" cy="50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586" cy="50173"/>
            </a:xfrm>
            <a:custGeom>
              <a:avLst/>
              <a:gdLst/>
              <a:ahLst/>
              <a:cxnLst/>
              <a:rect r="r" b="b" t="t" l="l"/>
              <a:pathLst>
                <a:path h="50173" w="599586">
                  <a:moveTo>
                    <a:pt x="0" y="0"/>
                  </a:moveTo>
                  <a:lnTo>
                    <a:pt x="599586" y="0"/>
                  </a:lnTo>
                  <a:lnTo>
                    <a:pt x="599586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99586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18065" y="4248829"/>
            <a:ext cx="4705822" cy="3420640"/>
            <a:chOff x="0" y="0"/>
            <a:chExt cx="1239393" cy="9009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73049" y="4248829"/>
            <a:ext cx="4705822" cy="3420640"/>
            <a:chOff x="0" y="0"/>
            <a:chExt cx="1239393" cy="9009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75628" y="4248829"/>
            <a:ext cx="4705822" cy="3420640"/>
            <a:chOff x="0" y="0"/>
            <a:chExt cx="1239393" cy="9009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077865" y="4608925"/>
            <a:ext cx="668764" cy="66876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222468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7" y="0"/>
                </a:lnTo>
                <a:lnTo>
                  <a:pt x="379557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503108" y="4608925"/>
            <a:ext cx="668764" cy="66876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47711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8" y="0"/>
                </a:lnTo>
                <a:lnTo>
                  <a:pt x="379558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975944" y="4608925"/>
            <a:ext cx="668764" cy="66876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3120548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7" y="0"/>
                </a:lnTo>
                <a:lnTo>
                  <a:pt x="379557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571540" y="58673"/>
            <a:ext cx="2076171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WHY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55440" y="1995629"/>
            <a:ext cx="8969603" cy="6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7"/>
              </a:lnSpc>
            </a:pPr>
            <a:r>
              <a:rPr lang="en-US" b="true" sz="3541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RETAILERS NEED A CHATBOT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66442" y="4724953"/>
            <a:ext cx="1335586" cy="24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24/7 Support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222468" y="5249114"/>
            <a:ext cx="3821981" cy="186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37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Customers shop at midnight, weekends, and holidays. Olive never sleeps — providing instant assistance every hour of every day, eliminating wait times and missed opportunities.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04201" y="4724953"/>
            <a:ext cx="1335586" cy="5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Instant Responses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04201" y="5249114"/>
            <a:ext cx="2850657" cy="205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6"/>
              </a:lnSpc>
            </a:pPr>
            <a:r>
              <a:rPr lang="en-US" sz="1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73% of shoppers expect replies within seconds. Olive delivers real-time answers on orders, products, returns, and payments — no queue, no delay, no frustration.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90764" y="4724953"/>
            <a:ext cx="1335586" cy="5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Scalable Service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990764" y="5258639"/>
            <a:ext cx="2850657" cy="103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91"/>
              </a:lnSpc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human agent handles 1 chat at a time. Olive handles thousands simultaneously — scaling effortlessly during peak seasons without adding headcount or cost.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5177" y="1037316"/>
            <a:ext cx="17037645" cy="5246370"/>
            <a:chOff x="0" y="0"/>
            <a:chExt cx="263957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39577" cy="812800"/>
            </a:xfrm>
            <a:custGeom>
              <a:avLst/>
              <a:gdLst/>
              <a:ahLst/>
              <a:cxnLst/>
              <a:rect r="r" b="b" t="t" l="l"/>
              <a:pathLst>
                <a:path h="812800" w="2639577">
                  <a:moveTo>
                    <a:pt x="33626" y="0"/>
                  </a:moveTo>
                  <a:lnTo>
                    <a:pt x="2605951" y="0"/>
                  </a:lnTo>
                  <a:cubicBezTo>
                    <a:pt x="2624522" y="0"/>
                    <a:pt x="2639577" y="15055"/>
                    <a:pt x="2639577" y="33626"/>
                  </a:cubicBezTo>
                  <a:lnTo>
                    <a:pt x="2639577" y="779174"/>
                  </a:lnTo>
                  <a:cubicBezTo>
                    <a:pt x="2639577" y="797745"/>
                    <a:pt x="2624522" y="812800"/>
                    <a:pt x="2605951" y="812800"/>
                  </a:cubicBezTo>
                  <a:lnTo>
                    <a:pt x="33626" y="812800"/>
                  </a:lnTo>
                  <a:cubicBezTo>
                    <a:pt x="15055" y="812800"/>
                    <a:pt x="0" y="797745"/>
                    <a:pt x="0" y="779174"/>
                  </a:cubicBezTo>
                  <a:lnTo>
                    <a:pt x="0" y="33626"/>
                  </a:lnTo>
                  <a:cubicBezTo>
                    <a:pt x="0" y="15055"/>
                    <a:pt x="15055" y="0"/>
                    <a:pt x="33626" y="0"/>
                  </a:cubicBez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l="0" t="-336" r="0" b="-33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28155" y="4794745"/>
            <a:ext cx="2471964" cy="125859"/>
            <a:chOff x="0" y="0"/>
            <a:chExt cx="651052" cy="331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1052" cy="33148"/>
            </a:xfrm>
            <a:custGeom>
              <a:avLst/>
              <a:gdLst/>
              <a:ahLst/>
              <a:cxnLst/>
              <a:rect r="r" b="b" t="t" l="l"/>
              <a:pathLst>
                <a:path h="33148" w="651052">
                  <a:moveTo>
                    <a:pt x="0" y="0"/>
                  </a:moveTo>
                  <a:lnTo>
                    <a:pt x="651052" y="0"/>
                  </a:lnTo>
                  <a:lnTo>
                    <a:pt x="651052" y="33148"/>
                  </a:lnTo>
                  <a:lnTo>
                    <a:pt x="0" y="33148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51052" cy="7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05297" y="5524847"/>
            <a:ext cx="4364330" cy="3141336"/>
            <a:chOff x="0" y="0"/>
            <a:chExt cx="1342989" cy="966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12605" y="5524847"/>
            <a:ext cx="4364330" cy="3141336"/>
            <a:chOff x="0" y="0"/>
            <a:chExt cx="1342989" cy="9666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95894" y="5828287"/>
            <a:ext cx="783136" cy="78313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165228" y="5997620"/>
            <a:ext cx="444469" cy="444469"/>
          </a:xfrm>
          <a:custGeom>
            <a:avLst/>
            <a:gdLst/>
            <a:ahLst/>
            <a:cxnLst/>
            <a:rect r="r" b="b" t="t" l="l"/>
            <a:pathLst>
              <a:path h="444469" w="444469">
                <a:moveTo>
                  <a:pt x="0" y="0"/>
                </a:moveTo>
                <a:lnTo>
                  <a:pt x="444469" y="0"/>
                </a:lnTo>
                <a:lnTo>
                  <a:pt x="444469" y="444469"/>
                </a:lnTo>
                <a:lnTo>
                  <a:pt x="0" y="44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30577" y="2026856"/>
            <a:ext cx="7674075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How OLIVE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28155" y="3033966"/>
            <a:ext cx="4241472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Thinks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28415" y="7569230"/>
            <a:ext cx="3918095" cy="74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22"/>
              </a:lnSpc>
            </a:pPr>
            <a:r>
              <a:rPr lang="en-US" sz="1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Raw text is received and tokenized. OLIVE reads every word to find meaning, context, and intent signals before responding.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03202" y="5828287"/>
            <a:ext cx="783136" cy="78313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972536" y="5997620"/>
            <a:ext cx="444469" cy="444469"/>
          </a:xfrm>
          <a:custGeom>
            <a:avLst/>
            <a:gdLst/>
            <a:ahLst/>
            <a:cxnLst/>
            <a:rect r="r" b="b" t="t" l="l"/>
            <a:pathLst>
              <a:path h="444469" w="444469">
                <a:moveTo>
                  <a:pt x="0" y="0"/>
                </a:moveTo>
                <a:lnTo>
                  <a:pt x="444469" y="0"/>
                </a:lnTo>
                <a:lnTo>
                  <a:pt x="444469" y="444469"/>
                </a:lnTo>
                <a:lnTo>
                  <a:pt x="0" y="44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796681" y="6645376"/>
            <a:ext cx="2910999" cy="7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Understand</a:t>
            </a:r>
          </a:p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87187" y="6645376"/>
            <a:ext cx="2913627" cy="7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Classify</a:t>
            </a:r>
          </a:p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Intent &amp; Entities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92071" y="7569230"/>
            <a:ext cx="3918095" cy="74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22"/>
              </a:lnSpc>
            </a:pPr>
            <a:r>
              <a:rPr lang="en-US" sz="1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IBM Watson NLU maps the message to a trained intent (the goal) and extracts entities (key data like product names or order IDs).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17164" y="5524847"/>
            <a:ext cx="4364330" cy="3141336"/>
            <a:chOff x="0" y="0"/>
            <a:chExt cx="1342989" cy="9666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07761" y="5828287"/>
            <a:ext cx="783136" cy="78313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3777094" y="5997620"/>
            <a:ext cx="444469" cy="444469"/>
          </a:xfrm>
          <a:custGeom>
            <a:avLst/>
            <a:gdLst/>
            <a:ahLst/>
            <a:cxnLst/>
            <a:rect r="r" b="b" t="t" l="l"/>
            <a:pathLst>
              <a:path h="444469" w="444469">
                <a:moveTo>
                  <a:pt x="0" y="0"/>
                </a:moveTo>
                <a:lnTo>
                  <a:pt x="444469" y="0"/>
                </a:lnTo>
                <a:lnTo>
                  <a:pt x="444469" y="444469"/>
                </a:lnTo>
                <a:lnTo>
                  <a:pt x="0" y="44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555817" y="6712381"/>
            <a:ext cx="2887023" cy="7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Route to</a:t>
            </a:r>
          </a:p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Dialog Node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96629" y="7569230"/>
            <a:ext cx="3918095" cy="74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22"/>
              </a:lnSpc>
            </a:pPr>
            <a:r>
              <a:rPr lang="en-US" sz="1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matched intent and entities trigger the correct dialog branch, generating a precise, contextual reply back to the user.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08647"/>
            <a:ext cx="18288000" cy="6155017"/>
            <a:chOff x="0" y="0"/>
            <a:chExt cx="2833290" cy="9535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953573"/>
            </a:xfrm>
            <a:custGeom>
              <a:avLst/>
              <a:gdLst/>
              <a:ahLst/>
              <a:cxnLst/>
              <a:rect r="r" b="b" t="t" l="l"/>
              <a:pathLst>
                <a:path h="953573" w="2833290">
                  <a:moveTo>
                    <a:pt x="33443" y="0"/>
                  </a:moveTo>
                  <a:lnTo>
                    <a:pt x="2799847" y="0"/>
                  </a:lnTo>
                  <a:cubicBezTo>
                    <a:pt x="2818317" y="0"/>
                    <a:pt x="2833290" y="14973"/>
                    <a:pt x="2833290" y="33443"/>
                  </a:cubicBezTo>
                  <a:lnTo>
                    <a:pt x="2833290" y="920130"/>
                  </a:lnTo>
                  <a:cubicBezTo>
                    <a:pt x="2833290" y="929000"/>
                    <a:pt x="2829766" y="937506"/>
                    <a:pt x="2823495" y="943778"/>
                  </a:cubicBezTo>
                  <a:cubicBezTo>
                    <a:pt x="2817223" y="950050"/>
                    <a:pt x="2808716" y="953573"/>
                    <a:pt x="2799847" y="953573"/>
                  </a:cubicBezTo>
                  <a:lnTo>
                    <a:pt x="33443" y="953573"/>
                  </a:lnTo>
                  <a:cubicBezTo>
                    <a:pt x="24574" y="953573"/>
                    <a:pt x="16067" y="950050"/>
                    <a:pt x="9795" y="943778"/>
                  </a:cubicBezTo>
                  <a:cubicBezTo>
                    <a:pt x="3523" y="937506"/>
                    <a:pt x="0" y="929000"/>
                    <a:pt x="0" y="920130"/>
                  </a:cubicBezTo>
                  <a:lnTo>
                    <a:pt x="0" y="33443"/>
                  </a:lnTo>
                  <a:cubicBezTo>
                    <a:pt x="0" y="24574"/>
                    <a:pt x="3523" y="16067"/>
                    <a:pt x="9795" y="9795"/>
                  </a:cubicBezTo>
                  <a:cubicBezTo>
                    <a:pt x="16067" y="3523"/>
                    <a:pt x="24574" y="0"/>
                    <a:pt x="33443" y="0"/>
                  </a:cubicBez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0" t="-696" r="0" b="-6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0478" y="2168862"/>
            <a:ext cx="17005603" cy="7380064"/>
            <a:chOff x="0" y="0"/>
            <a:chExt cx="4478842" cy="1943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78842" cy="1943721"/>
            </a:xfrm>
            <a:custGeom>
              <a:avLst/>
              <a:gdLst/>
              <a:ahLst/>
              <a:cxnLst/>
              <a:rect r="r" b="b" t="t" l="l"/>
              <a:pathLst>
                <a:path h="1943721" w="4478842">
                  <a:moveTo>
                    <a:pt x="23218" y="0"/>
                  </a:moveTo>
                  <a:lnTo>
                    <a:pt x="4455624" y="0"/>
                  </a:lnTo>
                  <a:cubicBezTo>
                    <a:pt x="4461782" y="0"/>
                    <a:pt x="4467687" y="2446"/>
                    <a:pt x="4472042" y="6800"/>
                  </a:cubicBezTo>
                  <a:cubicBezTo>
                    <a:pt x="4476396" y="11155"/>
                    <a:pt x="4478842" y="17060"/>
                    <a:pt x="4478842" y="23218"/>
                  </a:cubicBezTo>
                  <a:lnTo>
                    <a:pt x="4478842" y="1920502"/>
                  </a:lnTo>
                  <a:cubicBezTo>
                    <a:pt x="4478842" y="1933325"/>
                    <a:pt x="4468447" y="1943721"/>
                    <a:pt x="4455624" y="1943721"/>
                  </a:cubicBezTo>
                  <a:lnTo>
                    <a:pt x="23218" y="1943721"/>
                  </a:lnTo>
                  <a:cubicBezTo>
                    <a:pt x="10395" y="1943721"/>
                    <a:pt x="0" y="1933325"/>
                    <a:pt x="0" y="1920502"/>
                  </a:cubicBezTo>
                  <a:lnTo>
                    <a:pt x="0" y="23218"/>
                  </a:lnTo>
                  <a:cubicBezTo>
                    <a:pt x="0" y="10395"/>
                    <a:pt x="10395" y="0"/>
                    <a:pt x="232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53000"/>
                  </a:srgbClr>
                </a:gs>
                <a:gs pos="100000">
                  <a:srgbClr val="0085E5">
                    <a:alpha val="53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78842" cy="19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619" y="3910584"/>
            <a:ext cx="668764" cy="6687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31934" y="4036201"/>
            <a:ext cx="454236" cy="417530"/>
          </a:xfrm>
          <a:custGeom>
            <a:avLst/>
            <a:gdLst/>
            <a:ahLst/>
            <a:cxnLst/>
            <a:rect r="r" b="b" t="t" l="l"/>
            <a:pathLst>
              <a:path h="417530" w="454236">
                <a:moveTo>
                  <a:pt x="0" y="0"/>
                </a:moveTo>
                <a:lnTo>
                  <a:pt x="454236" y="0"/>
                </a:lnTo>
                <a:lnTo>
                  <a:pt x="454236" y="417530"/>
                </a:lnTo>
                <a:lnTo>
                  <a:pt x="0" y="41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0478" y="502742"/>
            <a:ext cx="3636504" cy="70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7"/>
              </a:lnSpc>
            </a:pPr>
            <a:r>
              <a:rPr lang="en-US" b="true" sz="408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INTENTS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478" y="1239794"/>
            <a:ext cx="9163801" cy="70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7"/>
              </a:lnSpc>
            </a:pPr>
            <a:r>
              <a:rPr lang="en-US" b="true" sz="4084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Goals Behind Messages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97240" y="4097656"/>
            <a:ext cx="2856529" cy="35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  <a:r>
              <a:rPr lang="en-US" b="true" sz="21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an Intent?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6170" y="4738287"/>
            <a:ext cx="4156114" cy="201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6"/>
              </a:lnSpc>
            </a:pPr>
            <a:r>
              <a:rPr lang="en-US" sz="20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intent is the goal or meaning behind a user's message — what the user wants to do, not just what they said.</a:t>
            </a:r>
          </a:p>
          <a:p>
            <a:pPr algn="just" marL="0" indent="0" lvl="0">
              <a:lnSpc>
                <a:spcPts val="4803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37559" y="2536232"/>
            <a:ext cx="11143891" cy="6590468"/>
          </a:xfrm>
          <a:custGeom>
            <a:avLst/>
            <a:gdLst/>
            <a:ahLst/>
            <a:cxnLst/>
            <a:rect r="r" b="b" t="t" l="l"/>
            <a:pathLst>
              <a:path h="6590468" w="11143891">
                <a:moveTo>
                  <a:pt x="0" y="0"/>
                </a:moveTo>
                <a:lnTo>
                  <a:pt x="11143890" y="0"/>
                </a:lnTo>
                <a:lnTo>
                  <a:pt x="11143890" y="6590468"/>
                </a:lnTo>
                <a:lnTo>
                  <a:pt x="0" y="659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70" t="0" r="-527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2925286" y="4464341"/>
            <a:ext cx="5810509" cy="5810509"/>
          </a:xfrm>
          <a:custGeom>
            <a:avLst/>
            <a:gdLst/>
            <a:ahLst/>
            <a:cxnLst/>
            <a:rect r="r" b="b" t="t" l="l"/>
            <a:pathLst>
              <a:path h="5810509" w="5810509">
                <a:moveTo>
                  <a:pt x="5810508" y="0"/>
                </a:moveTo>
                <a:lnTo>
                  <a:pt x="0" y="0"/>
                </a:lnTo>
                <a:lnTo>
                  <a:pt x="0" y="5810508"/>
                </a:lnTo>
                <a:lnTo>
                  <a:pt x="5810508" y="5810508"/>
                </a:lnTo>
                <a:lnTo>
                  <a:pt x="5810508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2295" y="2332090"/>
            <a:ext cx="12310300" cy="6673456"/>
            <a:chOff x="0" y="0"/>
            <a:chExt cx="2308937" cy="12516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8937" cy="1251683"/>
            </a:xfrm>
            <a:custGeom>
              <a:avLst/>
              <a:gdLst/>
              <a:ahLst/>
              <a:cxnLst/>
              <a:rect r="r" b="b" t="t" l="l"/>
              <a:pathLst>
                <a:path h="1251683" w="2308937">
                  <a:moveTo>
                    <a:pt x="27043" y="0"/>
                  </a:moveTo>
                  <a:lnTo>
                    <a:pt x="2281894" y="0"/>
                  </a:lnTo>
                  <a:cubicBezTo>
                    <a:pt x="2296829" y="0"/>
                    <a:pt x="2308937" y="12107"/>
                    <a:pt x="2308937" y="27043"/>
                  </a:cubicBezTo>
                  <a:lnTo>
                    <a:pt x="2308937" y="1224640"/>
                  </a:lnTo>
                  <a:cubicBezTo>
                    <a:pt x="2308937" y="1239575"/>
                    <a:pt x="2296829" y="1251683"/>
                    <a:pt x="2281894" y="1251683"/>
                  </a:cubicBezTo>
                  <a:lnTo>
                    <a:pt x="27043" y="1251683"/>
                  </a:lnTo>
                  <a:cubicBezTo>
                    <a:pt x="19870" y="1251683"/>
                    <a:pt x="12992" y="1248833"/>
                    <a:pt x="7921" y="1243762"/>
                  </a:cubicBezTo>
                  <a:cubicBezTo>
                    <a:pt x="2849" y="1238690"/>
                    <a:pt x="0" y="1231812"/>
                    <a:pt x="0" y="1224640"/>
                  </a:cubicBezTo>
                  <a:lnTo>
                    <a:pt x="0" y="27043"/>
                  </a:lnTo>
                  <a:cubicBezTo>
                    <a:pt x="0" y="12107"/>
                    <a:pt x="12107" y="0"/>
                    <a:pt x="27043" y="0"/>
                  </a:cubicBezTo>
                  <a:close/>
                </a:path>
              </a:pathLst>
            </a:custGeom>
            <a:blipFill>
              <a:blip r:embed="rId4"/>
              <a:stretch>
                <a:fillRect l="-545" t="0" r="-54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18854" y="3630845"/>
            <a:ext cx="4551864" cy="4414841"/>
            <a:chOff x="0" y="0"/>
            <a:chExt cx="1198845" cy="11627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8845" cy="1162757"/>
            </a:xfrm>
            <a:custGeom>
              <a:avLst/>
              <a:gdLst/>
              <a:ahLst/>
              <a:cxnLst/>
              <a:rect r="r" b="b" t="t" l="l"/>
              <a:pathLst>
                <a:path h="1162757" w="1198845">
                  <a:moveTo>
                    <a:pt x="86742" y="0"/>
                  </a:moveTo>
                  <a:lnTo>
                    <a:pt x="1112103" y="0"/>
                  </a:lnTo>
                  <a:cubicBezTo>
                    <a:pt x="1135108" y="0"/>
                    <a:pt x="1157171" y="9139"/>
                    <a:pt x="1173439" y="25406"/>
                  </a:cubicBezTo>
                  <a:cubicBezTo>
                    <a:pt x="1189706" y="41673"/>
                    <a:pt x="1198845" y="63737"/>
                    <a:pt x="1198845" y="86742"/>
                  </a:cubicBezTo>
                  <a:lnTo>
                    <a:pt x="1198845" y="1076015"/>
                  </a:lnTo>
                  <a:cubicBezTo>
                    <a:pt x="1198845" y="1123921"/>
                    <a:pt x="1160009" y="1162757"/>
                    <a:pt x="1112103" y="1162757"/>
                  </a:cubicBezTo>
                  <a:lnTo>
                    <a:pt x="86742" y="1162757"/>
                  </a:lnTo>
                  <a:cubicBezTo>
                    <a:pt x="38836" y="1162757"/>
                    <a:pt x="0" y="1123921"/>
                    <a:pt x="0" y="1076015"/>
                  </a:cubicBezTo>
                  <a:lnTo>
                    <a:pt x="0" y="86742"/>
                  </a:lnTo>
                  <a:cubicBezTo>
                    <a:pt x="0" y="38836"/>
                    <a:pt x="38836" y="0"/>
                    <a:pt x="867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5600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98845" cy="120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318854" y="4272236"/>
            <a:ext cx="759115" cy="759115"/>
          </a:xfrm>
          <a:custGeom>
            <a:avLst/>
            <a:gdLst/>
            <a:ahLst/>
            <a:cxnLst/>
            <a:rect r="r" b="b" t="t" l="l"/>
            <a:pathLst>
              <a:path h="759115" w="759115">
                <a:moveTo>
                  <a:pt x="0" y="0"/>
                </a:moveTo>
                <a:lnTo>
                  <a:pt x="759114" y="0"/>
                </a:lnTo>
                <a:lnTo>
                  <a:pt x="759114" y="759115"/>
                </a:lnTo>
                <a:lnTo>
                  <a:pt x="0" y="75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0">
            <a:off x="-886468" y="-282978"/>
            <a:ext cx="5810509" cy="5810509"/>
          </a:xfrm>
          <a:custGeom>
            <a:avLst/>
            <a:gdLst/>
            <a:ahLst/>
            <a:cxnLst/>
            <a:rect r="r" b="b" t="t" l="l"/>
            <a:pathLst>
              <a:path h="5810509" w="5810509">
                <a:moveTo>
                  <a:pt x="0" y="5810509"/>
                </a:moveTo>
                <a:lnTo>
                  <a:pt x="5810509" y="5810509"/>
                </a:lnTo>
                <a:lnTo>
                  <a:pt x="5810509" y="0"/>
                </a:lnTo>
                <a:lnTo>
                  <a:pt x="0" y="0"/>
                </a:lnTo>
                <a:lnTo>
                  <a:pt x="0" y="5810509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160322" y="2549578"/>
            <a:ext cx="2681100" cy="128768"/>
            <a:chOff x="0" y="0"/>
            <a:chExt cx="706133" cy="339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133" cy="33914"/>
            </a:xfrm>
            <a:custGeom>
              <a:avLst/>
              <a:gdLst/>
              <a:ahLst/>
              <a:cxnLst/>
              <a:rect r="r" b="b" t="t" l="l"/>
              <a:pathLst>
                <a:path h="33914" w="706133">
                  <a:moveTo>
                    <a:pt x="0" y="0"/>
                  </a:moveTo>
                  <a:lnTo>
                    <a:pt x="706133" y="0"/>
                  </a:lnTo>
                  <a:lnTo>
                    <a:pt x="706133" y="33914"/>
                  </a:lnTo>
                  <a:lnTo>
                    <a:pt x="0" y="33914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6133" cy="72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742625" y="933450"/>
            <a:ext cx="4044655" cy="77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4"/>
              </a:lnSpc>
            </a:pPr>
            <a:r>
              <a:rPr lang="en-US" b="true" sz="446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ENTITIES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91826" y="1658181"/>
            <a:ext cx="3737022" cy="77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4"/>
              </a:lnSpc>
            </a:pPr>
            <a:r>
              <a:rPr lang="en-US" b="true" sz="4467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DEFINED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92378" y="5287794"/>
            <a:ext cx="3818885" cy="184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56"/>
              </a:lnSpc>
            </a:pPr>
            <a:r>
              <a:rPr lang="en-US" sz="17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entity is a specific piece of information extracted from a user's message — the "what" behind the intent. Values and synonyms help Olive recognize natural language variations.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60322" y="4604168"/>
            <a:ext cx="2779854" cy="42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5"/>
              </a:lnSpc>
            </a:pPr>
            <a:r>
              <a:rPr lang="en-US" b="true" sz="24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an Entity?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39758" y="4517136"/>
            <a:ext cx="2471964" cy="125859"/>
            <a:chOff x="0" y="0"/>
            <a:chExt cx="651052" cy="331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1052" cy="33148"/>
            </a:xfrm>
            <a:custGeom>
              <a:avLst/>
              <a:gdLst/>
              <a:ahLst/>
              <a:cxnLst/>
              <a:rect r="r" b="b" t="t" l="l"/>
              <a:pathLst>
                <a:path h="33148" w="651052">
                  <a:moveTo>
                    <a:pt x="0" y="0"/>
                  </a:moveTo>
                  <a:lnTo>
                    <a:pt x="651052" y="0"/>
                  </a:lnTo>
                  <a:lnTo>
                    <a:pt x="651052" y="33148"/>
                  </a:lnTo>
                  <a:lnTo>
                    <a:pt x="0" y="33148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1052" cy="7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210512" y="4642995"/>
            <a:ext cx="12478424" cy="4961655"/>
            <a:chOff x="0" y="0"/>
            <a:chExt cx="2044169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4169" cy="812800"/>
            </a:xfrm>
            <a:custGeom>
              <a:avLst/>
              <a:gdLst/>
              <a:ahLst/>
              <a:cxnLst/>
              <a:rect r="r" b="b" t="t" l="l"/>
              <a:pathLst>
                <a:path h="812800" w="2044169">
                  <a:moveTo>
                    <a:pt x="217149" y="0"/>
                  </a:moveTo>
                  <a:lnTo>
                    <a:pt x="1827021" y="0"/>
                  </a:lnTo>
                  <a:cubicBezTo>
                    <a:pt x="1884612" y="0"/>
                    <a:pt x="1939845" y="22878"/>
                    <a:pt x="1980568" y="63601"/>
                  </a:cubicBezTo>
                  <a:cubicBezTo>
                    <a:pt x="2021291" y="104325"/>
                    <a:pt x="2044169" y="159557"/>
                    <a:pt x="2044169" y="217149"/>
                  </a:cubicBezTo>
                  <a:lnTo>
                    <a:pt x="2044169" y="595651"/>
                  </a:lnTo>
                  <a:cubicBezTo>
                    <a:pt x="2044169" y="715579"/>
                    <a:pt x="1946949" y="812800"/>
                    <a:pt x="1827021" y="812800"/>
                  </a:cubicBezTo>
                  <a:lnTo>
                    <a:pt x="217149" y="812800"/>
                  </a:lnTo>
                  <a:cubicBezTo>
                    <a:pt x="159557" y="812800"/>
                    <a:pt x="104325" y="789922"/>
                    <a:pt x="63601" y="749199"/>
                  </a:cubicBezTo>
                  <a:cubicBezTo>
                    <a:pt x="22878" y="708475"/>
                    <a:pt x="0" y="653243"/>
                    <a:pt x="0" y="595651"/>
                  </a:cubicBezTo>
                  <a:lnTo>
                    <a:pt x="0" y="217149"/>
                  </a:lnTo>
                  <a:cubicBezTo>
                    <a:pt x="0" y="159557"/>
                    <a:pt x="22878" y="104325"/>
                    <a:pt x="63601" y="63601"/>
                  </a:cubicBezTo>
                  <a:cubicBezTo>
                    <a:pt x="104325" y="22878"/>
                    <a:pt x="159557" y="0"/>
                    <a:pt x="2171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56" r="0" b="-45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74" y="59429"/>
            <a:ext cx="4710824" cy="47108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10000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39691" y="5666800"/>
            <a:ext cx="783136" cy="7831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309025" y="5836133"/>
            <a:ext cx="444469" cy="444469"/>
          </a:xfrm>
          <a:custGeom>
            <a:avLst/>
            <a:gdLst/>
            <a:ahLst/>
            <a:cxnLst/>
            <a:rect r="r" b="b" t="t" l="l"/>
            <a:pathLst>
              <a:path h="444469" w="444469">
                <a:moveTo>
                  <a:pt x="0" y="0"/>
                </a:moveTo>
                <a:lnTo>
                  <a:pt x="444468" y="0"/>
                </a:lnTo>
                <a:lnTo>
                  <a:pt x="444468" y="444469"/>
                </a:lnTo>
                <a:lnTo>
                  <a:pt x="0" y="44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606415" y="5666800"/>
            <a:ext cx="783136" cy="78313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775748" y="5836133"/>
            <a:ext cx="444469" cy="444469"/>
          </a:xfrm>
          <a:custGeom>
            <a:avLst/>
            <a:gdLst/>
            <a:ahLst/>
            <a:cxnLst/>
            <a:rect r="r" b="b" t="t" l="l"/>
            <a:pathLst>
              <a:path h="444469" w="444469">
                <a:moveTo>
                  <a:pt x="0" y="0"/>
                </a:moveTo>
                <a:lnTo>
                  <a:pt x="444469" y="0"/>
                </a:lnTo>
                <a:lnTo>
                  <a:pt x="444469" y="444469"/>
                </a:lnTo>
                <a:lnTo>
                  <a:pt x="0" y="444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902896" y="163615"/>
            <a:ext cx="1730169" cy="173016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175740" y="482597"/>
            <a:ext cx="1200878" cy="1058724"/>
          </a:xfrm>
          <a:custGeom>
            <a:avLst/>
            <a:gdLst/>
            <a:ahLst/>
            <a:cxnLst/>
            <a:rect r="r" b="b" t="t" l="l"/>
            <a:pathLst>
              <a:path h="1058724" w="1200878">
                <a:moveTo>
                  <a:pt x="0" y="0"/>
                </a:moveTo>
                <a:lnTo>
                  <a:pt x="1200878" y="0"/>
                </a:lnTo>
                <a:lnTo>
                  <a:pt x="1200878" y="1058724"/>
                </a:lnTo>
                <a:lnTo>
                  <a:pt x="0" y="105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33065" y="221695"/>
            <a:ext cx="11437746" cy="9843610"/>
          </a:xfrm>
          <a:custGeom>
            <a:avLst/>
            <a:gdLst/>
            <a:ahLst/>
            <a:cxnLst/>
            <a:rect r="r" b="b" t="t" l="l"/>
            <a:pathLst>
              <a:path h="9843610" w="11437746">
                <a:moveTo>
                  <a:pt x="0" y="0"/>
                </a:moveTo>
                <a:lnTo>
                  <a:pt x="11437746" y="0"/>
                </a:lnTo>
                <a:lnTo>
                  <a:pt x="11437746" y="9843610"/>
                </a:lnTo>
                <a:lnTo>
                  <a:pt x="0" y="9843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3617" y="1217295"/>
            <a:ext cx="4466338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0"/>
              </a:lnSpc>
            </a:pPr>
            <a:r>
              <a:rPr lang="en-US" b="true" sz="495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Training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1769" y="2415540"/>
            <a:ext cx="3668186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0"/>
              </a:lnSpc>
            </a:pPr>
            <a:r>
              <a:rPr lang="en-US" b="true" sz="4950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OLIVE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15942" y="523205"/>
            <a:ext cx="1048600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49578" y="523205"/>
            <a:ext cx="1088008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Gallery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94786" y="523205"/>
            <a:ext cx="1395225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478" y="2216029"/>
            <a:ext cx="2471964" cy="125859"/>
            <a:chOff x="0" y="0"/>
            <a:chExt cx="651052" cy="331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1052" cy="33148"/>
            </a:xfrm>
            <a:custGeom>
              <a:avLst/>
              <a:gdLst/>
              <a:ahLst/>
              <a:cxnLst/>
              <a:rect r="r" b="b" t="t" l="l"/>
              <a:pathLst>
                <a:path h="33148" w="651052">
                  <a:moveTo>
                    <a:pt x="0" y="0"/>
                  </a:moveTo>
                  <a:lnTo>
                    <a:pt x="651052" y="0"/>
                  </a:lnTo>
                  <a:lnTo>
                    <a:pt x="651052" y="33148"/>
                  </a:lnTo>
                  <a:lnTo>
                    <a:pt x="0" y="33148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1052" cy="7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478" y="2633630"/>
            <a:ext cx="668764" cy="6687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55815" y="2778234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8" y="0"/>
                </a:lnTo>
                <a:lnTo>
                  <a:pt x="379558" y="379557"/>
                </a:lnTo>
                <a:lnTo>
                  <a:pt x="0" y="379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291192" y="355283"/>
            <a:ext cx="10662695" cy="9576433"/>
          </a:xfrm>
          <a:custGeom>
            <a:avLst/>
            <a:gdLst/>
            <a:ahLst/>
            <a:cxnLst/>
            <a:rect r="r" b="b" t="t" l="l"/>
            <a:pathLst>
              <a:path h="9576433" w="10662695">
                <a:moveTo>
                  <a:pt x="0" y="0"/>
                </a:moveTo>
                <a:lnTo>
                  <a:pt x="10662695" y="0"/>
                </a:lnTo>
                <a:lnTo>
                  <a:pt x="10662695" y="9576434"/>
                </a:lnTo>
                <a:lnTo>
                  <a:pt x="0" y="95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8478" y="249216"/>
            <a:ext cx="5234470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Dialog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170710"/>
            <a:ext cx="6498472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Nodes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8478" y="3702444"/>
            <a:ext cx="5125980" cy="211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dialog node is a rule-based conversation step that detects a condition and returns a targeted response.</a:t>
            </a:r>
          </a:p>
          <a:p>
            <a:pPr algn="just" marL="0" indent="0" lvl="0">
              <a:lnSpc>
                <a:spcPts val="338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215942" y="523205"/>
            <a:ext cx="1048600" cy="29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49578" y="523205"/>
            <a:ext cx="1088008" cy="29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Dialog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94786" y="523205"/>
            <a:ext cx="1395225" cy="29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Nodes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335" y="0"/>
            <a:ext cx="6626890" cy="8788923"/>
            <a:chOff x="0" y="0"/>
            <a:chExt cx="812800" cy="10779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7977"/>
            </a:xfrm>
            <a:custGeom>
              <a:avLst/>
              <a:gdLst/>
              <a:ahLst/>
              <a:cxnLst/>
              <a:rect r="r" b="b" t="t" l="l"/>
              <a:pathLst>
                <a:path h="1077977" w="812800">
                  <a:moveTo>
                    <a:pt x="61918" y="0"/>
                  </a:moveTo>
                  <a:lnTo>
                    <a:pt x="750882" y="0"/>
                  </a:lnTo>
                  <a:cubicBezTo>
                    <a:pt x="767304" y="0"/>
                    <a:pt x="783053" y="6523"/>
                    <a:pt x="794665" y="18135"/>
                  </a:cubicBezTo>
                  <a:cubicBezTo>
                    <a:pt x="806277" y="29747"/>
                    <a:pt x="812800" y="45496"/>
                    <a:pt x="812800" y="61918"/>
                  </a:cubicBezTo>
                  <a:lnTo>
                    <a:pt x="812800" y="1016060"/>
                  </a:lnTo>
                  <a:cubicBezTo>
                    <a:pt x="812800" y="1050256"/>
                    <a:pt x="785078" y="1077977"/>
                    <a:pt x="750882" y="1077977"/>
                  </a:cubicBezTo>
                  <a:lnTo>
                    <a:pt x="61918" y="1077977"/>
                  </a:lnTo>
                  <a:cubicBezTo>
                    <a:pt x="45496" y="1077977"/>
                    <a:pt x="29747" y="1071454"/>
                    <a:pt x="18135" y="1059842"/>
                  </a:cubicBezTo>
                  <a:cubicBezTo>
                    <a:pt x="6523" y="1048230"/>
                    <a:pt x="0" y="1032481"/>
                    <a:pt x="0" y="1016060"/>
                  </a:cubicBezTo>
                  <a:lnTo>
                    <a:pt x="0" y="61918"/>
                  </a:lnTo>
                  <a:cubicBezTo>
                    <a:pt x="0" y="45496"/>
                    <a:pt x="6523" y="29747"/>
                    <a:pt x="18135" y="18135"/>
                  </a:cubicBezTo>
                  <a:cubicBezTo>
                    <a:pt x="29747" y="6523"/>
                    <a:pt x="45496" y="0"/>
                    <a:pt x="61918" y="0"/>
                  </a:cubicBezTo>
                  <a:close/>
                </a:path>
              </a:pathLst>
            </a:custGeom>
            <a:blipFill>
              <a:blip r:embed="rId2"/>
              <a:stretch>
                <a:fillRect l="-148" t="0" r="-14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2088" y="220025"/>
            <a:ext cx="3952484" cy="2238699"/>
            <a:chOff x="0" y="0"/>
            <a:chExt cx="1040983" cy="589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983" cy="589616"/>
            </a:xfrm>
            <a:custGeom>
              <a:avLst/>
              <a:gdLst/>
              <a:ahLst/>
              <a:cxnLst/>
              <a:rect r="r" b="b" t="t" l="l"/>
              <a:pathLst>
                <a:path h="589616" w="1040983">
                  <a:moveTo>
                    <a:pt x="99896" y="0"/>
                  </a:moveTo>
                  <a:lnTo>
                    <a:pt x="941087" y="0"/>
                  </a:lnTo>
                  <a:cubicBezTo>
                    <a:pt x="996258" y="0"/>
                    <a:pt x="1040983" y="44725"/>
                    <a:pt x="1040983" y="99896"/>
                  </a:cubicBezTo>
                  <a:lnTo>
                    <a:pt x="1040983" y="489720"/>
                  </a:lnTo>
                  <a:cubicBezTo>
                    <a:pt x="1040983" y="544891"/>
                    <a:pt x="996258" y="589616"/>
                    <a:pt x="941087" y="589616"/>
                  </a:cubicBezTo>
                  <a:lnTo>
                    <a:pt x="99896" y="589616"/>
                  </a:lnTo>
                  <a:cubicBezTo>
                    <a:pt x="44725" y="589616"/>
                    <a:pt x="0" y="544891"/>
                    <a:pt x="0" y="489720"/>
                  </a:cubicBezTo>
                  <a:lnTo>
                    <a:pt x="0" y="99896"/>
                  </a:lnTo>
                  <a:cubicBezTo>
                    <a:pt x="0" y="44725"/>
                    <a:pt x="44725" y="0"/>
                    <a:pt x="998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73000"/>
                  </a:srgbClr>
                </a:gs>
                <a:gs pos="100000">
                  <a:srgbClr val="0085E5">
                    <a:alpha val="73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0983" cy="627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948211" y="8587835"/>
            <a:ext cx="1328836" cy="1365180"/>
          </a:xfrm>
          <a:custGeom>
            <a:avLst/>
            <a:gdLst/>
            <a:ahLst/>
            <a:cxnLst/>
            <a:rect r="r" b="b" t="t" l="l"/>
            <a:pathLst>
              <a:path h="1365180" w="1328836">
                <a:moveTo>
                  <a:pt x="0" y="0"/>
                </a:moveTo>
                <a:lnTo>
                  <a:pt x="1328836" y="0"/>
                </a:lnTo>
                <a:lnTo>
                  <a:pt x="1328836" y="1365181"/>
                </a:lnTo>
                <a:lnTo>
                  <a:pt x="0" y="1365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791" y="0"/>
            <a:ext cx="11834209" cy="10532446"/>
          </a:xfrm>
          <a:custGeom>
            <a:avLst/>
            <a:gdLst/>
            <a:ahLst/>
            <a:cxnLst/>
            <a:rect r="r" b="b" t="t" l="l"/>
            <a:pathLst>
              <a:path h="10532446" w="11834209">
                <a:moveTo>
                  <a:pt x="0" y="0"/>
                </a:moveTo>
                <a:lnTo>
                  <a:pt x="11834209" y="0"/>
                </a:lnTo>
                <a:lnTo>
                  <a:pt x="11834209" y="10532446"/>
                </a:lnTo>
                <a:lnTo>
                  <a:pt x="0" y="1053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0850" y="217683"/>
            <a:ext cx="6442083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Child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5888" y="1193933"/>
            <a:ext cx="3798684" cy="10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3"/>
              </a:lnSpc>
            </a:pPr>
            <a:r>
              <a:rPr lang="en-US" b="true" sz="6095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Nodes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124" y="3841546"/>
            <a:ext cx="4746124" cy="332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1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child node is a more specific branch nested under a parent dialog node. When a user's input matches the parent condition, Watson checks child nodes for follow-up conditions — enabling Olive to handle nuanced follow-ups like price inquiries or offer requests within the same conversation turn.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5177" y="1037316"/>
            <a:ext cx="17037645" cy="5246370"/>
            <a:chOff x="0" y="0"/>
            <a:chExt cx="263957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39577" cy="812800"/>
            </a:xfrm>
            <a:custGeom>
              <a:avLst/>
              <a:gdLst/>
              <a:ahLst/>
              <a:cxnLst/>
              <a:rect r="r" b="b" t="t" l="l"/>
              <a:pathLst>
                <a:path h="812800" w="2639577">
                  <a:moveTo>
                    <a:pt x="33626" y="0"/>
                  </a:moveTo>
                  <a:lnTo>
                    <a:pt x="2605951" y="0"/>
                  </a:lnTo>
                  <a:cubicBezTo>
                    <a:pt x="2624522" y="0"/>
                    <a:pt x="2639577" y="15055"/>
                    <a:pt x="2639577" y="33626"/>
                  </a:cubicBezTo>
                  <a:lnTo>
                    <a:pt x="2639577" y="779174"/>
                  </a:lnTo>
                  <a:cubicBezTo>
                    <a:pt x="2639577" y="797745"/>
                    <a:pt x="2624522" y="812800"/>
                    <a:pt x="2605951" y="812800"/>
                  </a:cubicBezTo>
                  <a:lnTo>
                    <a:pt x="33626" y="812800"/>
                  </a:lnTo>
                  <a:cubicBezTo>
                    <a:pt x="15055" y="812800"/>
                    <a:pt x="0" y="797745"/>
                    <a:pt x="0" y="779174"/>
                  </a:cubicBezTo>
                  <a:lnTo>
                    <a:pt x="0" y="33626"/>
                  </a:lnTo>
                  <a:cubicBezTo>
                    <a:pt x="0" y="15055"/>
                    <a:pt x="15055" y="0"/>
                    <a:pt x="33626" y="0"/>
                  </a:cubicBez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l="0" t="-336" r="0" b="-33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28155" y="4794745"/>
            <a:ext cx="2471964" cy="125859"/>
            <a:chOff x="0" y="0"/>
            <a:chExt cx="651052" cy="33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052" cy="33148"/>
            </a:xfrm>
            <a:custGeom>
              <a:avLst/>
              <a:gdLst/>
              <a:ahLst/>
              <a:cxnLst/>
              <a:rect r="r" b="b" t="t" l="l"/>
              <a:pathLst>
                <a:path h="33148" w="651052">
                  <a:moveTo>
                    <a:pt x="0" y="0"/>
                  </a:moveTo>
                  <a:lnTo>
                    <a:pt x="651052" y="0"/>
                  </a:lnTo>
                  <a:lnTo>
                    <a:pt x="651052" y="33148"/>
                  </a:lnTo>
                  <a:lnTo>
                    <a:pt x="0" y="33148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51052" cy="7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05297" y="5524847"/>
            <a:ext cx="4364330" cy="3141336"/>
            <a:chOff x="0" y="0"/>
            <a:chExt cx="1342989" cy="9666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12605" y="5524847"/>
            <a:ext cx="4364330" cy="3141336"/>
            <a:chOff x="0" y="0"/>
            <a:chExt cx="1342989" cy="9666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995894" y="5828287"/>
            <a:ext cx="783136" cy="7831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124464" y="5969205"/>
            <a:ext cx="532792" cy="514047"/>
          </a:xfrm>
          <a:custGeom>
            <a:avLst/>
            <a:gdLst/>
            <a:ahLst/>
            <a:cxnLst/>
            <a:rect r="r" b="b" t="t" l="l"/>
            <a:pathLst>
              <a:path h="514047" w="532792">
                <a:moveTo>
                  <a:pt x="0" y="0"/>
                </a:moveTo>
                <a:lnTo>
                  <a:pt x="532791" y="0"/>
                </a:lnTo>
                <a:lnTo>
                  <a:pt x="532791" y="514047"/>
                </a:lnTo>
                <a:lnTo>
                  <a:pt x="0" y="514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330577" y="2074481"/>
            <a:ext cx="7674075" cy="64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0"/>
              </a:lnSpc>
            </a:pPr>
            <a:r>
              <a:rPr lang="en-US" b="true" sz="376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Learnings &amp;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28155" y="3081591"/>
            <a:ext cx="4241472" cy="64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0"/>
              </a:lnSpc>
            </a:pPr>
            <a:r>
              <a:rPr lang="en-US" b="true" sz="3764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Challenges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31812" y="7056143"/>
            <a:ext cx="3918095" cy="123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37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Watson's NLU struggled with short, vague inputs and slang. Confidence thresholds needed constant tuning to avoid misfires.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03202" y="5577638"/>
            <a:ext cx="783136" cy="78313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977003" y="5752078"/>
            <a:ext cx="435535" cy="434254"/>
          </a:xfrm>
          <a:custGeom>
            <a:avLst/>
            <a:gdLst/>
            <a:ahLst/>
            <a:cxnLst/>
            <a:rect r="r" b="b" t="t" l="l"/>
            <a:pathLst>
              <a:path h="434254" w="435535">
                <a:moveTo>
                  <a:pt x="0" y="0"/>
                </a:moveTo>
                <a:lnTo>
                  <a:pt x="435535" y="0"/>
                </a:lnTo>
                <a:lnTo>
                  <a:pt x="435535" y="434255"/>
                </a:lnTo>
                <a:lnTo>
                  <a:pt x="0" y="434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796681" y="6645376"/>
            <a:ext cx="2910999" cy="35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NLU Has Real Limits.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37957" y="6287766"/>
            <a:ext cx="2913627" cy="7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Data</a:t>
            </a:r>
          </a:p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Quality Matters.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49043" y="7066940"/>
            <a:ext cx="4091454" cy="123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37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Poor or sparse training examples caused Olive to misclassify intents. More diverse, real-world utterances significantly improved accuracy.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928068" y="5524847"/>
            <a:ext cx="4364330" cy="3141336"/>
            <a:chOff x="0" y="0"/>
            <a:chExt cx="1342989" cy="9666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2989" cy="966650"/>
            </a:xfrm>
            <a:custGeom>
              <a:avLst/>
              <a:gdLst/>
              <a:ahLst/>
              <a:cxnLst/>
              <a:rect r="r" b="b" t="t" l="l"/>
              <a:pathLst>
                <a:path h="966650" w="1342989">
                  <a:moveTo>
                    <a:pt x="90469" y="0"/>
                  </a:moveTo>
                  <a:lnTo>
                    <a:pt x="1252519" y="0"/>
                  </a:lnTo>
                  <a:cubicBezTo>
                    <a:pt x="1276513" y="0"/>
                    <a:pt x="1299524" y="9532"/>
                    <a:pt x="1316491" y="26498"/>
                  </a:cubicBezTo>
                  <a:cubicBezTo>
                    <a:pt x="1333457" y="43464"/>
                    <a:pt x="1342989" y="66475"/>
                    <a:pt x="1342989" y="90469"/>
                  </a:cubicBezTo>
                  <a:lnTo>
                    <a:pt x="1342989" y="876180"/>
                  </a:lnTo>
                  <a:cubicBezTo>
                    <a:pt x="1342989" y="926145"/>
                    <a:pt x="1302484" y="966650"/>
                    <a:pt x="1252519" y="966650"/>
                  </a:cubicBezTo>
                  <a:lnTo>
                    <a:pt x="90469" y="966650"/>
                  </a:lnTo>
                  <a:cubicBezTo>
                    <a:pt x="66475" y="966650"/>
                    <a:pt x="43464" y="957118"/>
                    <a:pt x="26498" y="940152"/>
                  </a:cubicBezTo>
                  <a:cubicBezTo>
                    <a:pt x="9532" y="923185"/>
                    <a:pt x="0" y="900174"/>
                    <a:pt x="0" y="876180"/>
                  </a:cubicBezTo>
                  <a:lnTo>
                    <a:pt x="0" y="90469"/>
                  </a:lnTo>
                  <a:cubicBezTo>
                    <a:pt x="0" y="66475"/>
                    <a:pt x="9532" y="43464"/>
                    <a:pt x="26498" y="26498"/>
                  </a:cubicBezTo>
                  <a:cubicBezTo>
                    <a:pt x="43464" y="9532"/>
                    <a:pt x="66475" y="0"/>
                    <a:pt x="90469" y="0"/>
                  </a:cubicBezTo>
                  <a:close/>
                </a:path>
              </a:pathLst>
            </a:custGeom>
            <a:solidFill>
              <a:srgbClr val="08244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42989" cy="100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92378" y="5552255"/>
            <a:ext cx="783136" cy="783136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3736468" y="5606945"/>
            <a:ext cx="525722" cy="753828"/>
          </a:xfrm>
          <a:custGeom>
            <a:avLst/>
            <a:gdLst/>
            <a:ahLst/>
            <a:cxnLst/>
            <a:rect r="r" b="b" t="t" l="l"/>
            <a:pathLst>
              <a:path h="753828" w="525722">
                <a:moveTo>
                  <a:pt x="0" y="0"/>
                </a:moveTo>
                <a:lnTo>
                  <a:pt x="525722" y="0"/>
                </a:lnTo>
                <a:lnTo>
                  <a:pt x="525722" y="753828"/>
                </a:lnTo>
                <a:lnTo>
                  <a:pt x="0" y="753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1740241" y="6384287"/>
            <a:ext cx="4402304" cy="7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Intent Ambiguity</a:t>
            </a:r>
          </a:p>
          <a:p>
            <a:pPr algn="ctr" marL="0" indent="0" lvl="0">
              <a:lnSpc>
                <a:spcPts val="2845"/>
              </a:lnSpc>
            </a:pPr>
            <a:r>
              <a:rPr lang="en-US" b="true" sz="203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Tricky.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77035" y="7133615"/>
            <a:ext cx="3965510" cy="123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37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Users often mixed intents in one message (e.g., price + refund). Handling multi-intent inputs required careful dialog branching.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215942" y="523205"/>
            <a:ext cx="1048600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2539" y="523205"/>
            <a:ext cx="969838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00F0FF"/>
                </a:solidFill>
                <a:latin typeface="Canva Sans"/>
                <a:ea typeface="Canva Sans"/>
                <a:cs typeface="Canva Sans"/>
                <a:sym typeface="Canva Sans"/>
              </a:rPr>
              <a:t>About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49578" y="523205"/>
            <a:ext cx="1088008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Gallery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594786" y="523205"/>
            <a:ext cx="1395225" cy="2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90010" y="694338"/>
            <a:ext cx="491439" cy="109555"/>
            <a:chOff x="0" y="0"/>
            <a:chExt cx="129432" cy="28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0010" y="533689"/>
            <a:ext cx="491439" cy="109555"/>
            <a:chOff x="0" y="0"/>
            <a:chExt cx="129432" cy="28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010" y="373041"/>
            <a:ext cx="491439" cy="109555"/>
            <a:chOff x="0" y="0"/>
            <a:chExt cx="129432" cy="28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32" cy="28854"/>
            </a:xfrm>
            <a:custGeom>
              <a:avLst/>
              <a:gdLst/>
              <a:ahLst/>
              <a:cxnLst/>
              <a:rect r="r" b="b" t="t" l="l"/>
              <a:pathLst>
                <a:path h="28854" w="129432">
                  <a:moveTo>
                    <a:pt x="0" y="0"/>
                  </a:moveTo>
                  <a:lnTo>
                    <a:pt x="129432" y="0"/>
                  </a:lnTo>
                  <a:lnTo>
                    <a:pt x="129432" y="28854"/>
                  </a:lnTo>
                  <a:lnTo>
                    <a:pt x="0" y="288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432" cy="6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707060" y="5959149"/>
            <a:ext cx="19702120" cy="4432977"/>
          </a:xfrm>
          <a:custGeom>
            <a:avLst/>
            <a:gdLst/>
            <a:ahLst/>
            <a:cxnLst/>
            <a:rect r="r" b="b" t="t" l="l"/>
            <a:pathLst>
              <a:path h="4432977" w="19702120">
                <a:moveTo>
                  <a:pt x="0" y="0"/>
                </a:moveTo>
                <a:lnTo>
                  <a:pt x="19702120" y="0"/>
                </a:lnTo>
                <a:lnTo>
                  <a:pt x="19702120" y="4432977"/>
                </a:lnTo>
                <a:lnTo>
                  <a:pt x="0" y="44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5216038" y="1440632"/>
            <a:ext cx="12911249" cy="7405737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3228" r="0" b="-322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84837" y="1334710"/>
            <a:ext cx="2276554" cy="190500"/>
            <a:chOff x="0" y="0"/>
            <a:chExt cx="599586" cy="501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586" cy="50173"/>
            </a:xfrm>
            <a:custGeom>
              <a:avLst/>
              <a:gdLst/>
              <a:ahLst/>
              <a:cxnLst/>
              <a:rect r="r" b="b" t="t" l="l"/>
              <a:pathLst>
                <a:path h="50173" w="599586">
                  <a:moveTo>
                    <a:pt x="0" y="0"/>
                  </a:moveTo>
                  <a:lnTo>
                    <a:pt x="599586" y="0"/>
                  </a:lnTo>
                  <a:lnTo>
                    <a:pt x="599586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99586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18065" y="4248829"/>
            <a:ext cx="4705822" cy="3420640"/>
            <a:chOff x="0" y="0"/>
            <a:chExt cx="1239393" cy="9009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73049" y="4248829"/>
            <a:ext cx="4705822" cy="3420640"/>
            <a:chOff x="0" y="0"/>
            <a:chExt cx="1239393" cy="9009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75628" y="4248829"/>
            <a:ext cx="4705822" cy="3420640"/>
            <a:chOff x="0" y="0"/>
            <a:chExt cx="1239393" cy="9009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9393" cy="900909"/>
            </a:xfrm>
            <a:custGeom>
              <a:avLst/>
              <a:gdLst/>
              <a:ahLst/>
              <a:cxnLst/>
              <a:rect r="r" b="b" t="t" l="l"/>
              <a:pathLst>
                <a:path h="900909" w="1239393">
                  <a:moveTo>
                    <a:pt x="83904" y="0"/>
                  </a:moveTo>
                  <a:lnTo>
                    <a:pt x="1155489" y="0"/>
                  </a:lnTo>
                  <a:cubicBezTo>
                    <a:pt x="1177742" y="0"/>
                    <a:pt x="1199083" y="8840"/>
                    <a:pt x="1214818" y="24575"/>
                  </a:cubicBezTo>
                  <a:cubicBezTo>
                    <a:pt x="1230553" y="40310"/>
                    <a:pt x="1239393" y="61651"/>
                    <a:pt x="1239393" y="83904"/>
                  </a:cubicBezTo>
                  <a:lnTo>
                    <a:pt x="1239393" y="817005"/>
                  </a:lnTo>
                  <a:cubicBezTo>
                    <a:pt x="1239393" y="863344"/>
                    <a:pt x="1201828" y="900909"/>
                    <a:pt x="1155489" y="900909"/>
                  </a:cubicBezTo>
                  <a:lnTo>
                    <a:pt x="83904" y="900909"/>
                  </a:lnTo>
                  <a:cubicBezTo>
                    <a:pt x="61651" y="900909"/>
                    <a:pt x="40310" y="892069"/>
                    <a:pt x="24575" y="876334"/>
                  </a:cubicBezTo>
                  <a:cubicBezTo>
                    <a:pt x="8840" y="860599"/>
                    <a:pt x="0" y="839258"/>
                    <a:pt x="0" y="817005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solidFill>
              <a:srgbClr val="08244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39393" cy="939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77865" y="4608925"/>
            <a:ext cx="668764" cy="66876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222468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7" y="0"/>
                </a:lnTo>
                <a:lnTo>
                  <a:pt x="379557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8503108" y="4608925"/>
            <a:ext cx="668764" cy="66876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647711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8" y="0"/>
                </a:lnTo>
                <a:lnTo>
                  <a:pt x="379558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975944" y="4608925"/>
            <a:ext cx="668764" cy="668764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F0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120548" y="4753528"/>
            <a:ext cx="379557" cy="379557"/>
          </a:xfrm>
          <a:custGeom>
            <a:avLst/>
            <a:gdLst/>
            <a:ahLst/>
            <a:cxnLst/>
            <a:rect r="r" b="b" t="t" l="l"/>
            <a:pathLst>
              <a:path h="379557" w="379557">
                <a:moveTo>
                  <a:pt x="0" y="0"/>
                </a:moveTo>
                <a:lnTo>
                  <a:pt x="379557" y="0"/>
                </a:lnTo>
                <a:lnTo>
                  <a:pt x="379557" y="379558"/>
                </a:lnTo>
                <a:lnTo>
                  <a:pt x="0" y="3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6761319" y="567045"/>
            <a:ext cx="2076171" cy="6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1"/>
              </a:lnSpc>
            </a:pPr>
            <a:r>
              <a:rPr lang="en-US" b="true" sz="37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OLIVE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670697" y="1952800"/>
            <a:ext cx="8969603" cy="10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0"/>
              </a:lnSpc>
            </a:pPr>
            <a:r>
              <a:rPr lang="en-US" b="true" sz="5936">
                <a:solidFill>
                  <a:srgbClr val="00F0FF"/>
                </a:solidFill>
                <a:latin typeface="HK Modular"/>
                <a:ea typeface="HK Modular"/>
                <a:cs typeface="HK Modular"/>
                <a:sym typeface="HK Modular"/>
              </a:rPr>
              <a:t>Future Roadmap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66442" y="4724953"/>
            <a:ext cx="1335586" cy="5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Sentiment Analysis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66442" y="5258639"/>
            <a:ext cx="2850657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91"/>
              </a:lnSpc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Detect customer emotions — frustration, satisfaction, or urgency — in real time. OLIVE adapts tone and escalates to human agents when sentiment signals distress, improving resolution rates and customer trust.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04201" y="4724953"/>
            <a:ext cx="1335586" cy="5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Voice Integration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71872" y="5468750"/>
            <a:ext cx="2850657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91"/>
              </a:lnSpc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Enable hands-free, speech-driven conversations via voice APIs. OLIVE will process spoken queries, respond audibly, and support accessibility — extending reach to mobile and smart-device users seamlessly.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990764" y="4724953"/>
            <a:ext cx="1335586" cy="76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Multi-Language Support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12257" y="5586148"/>
            <a:ext cx="2850657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91"/>
              </a:lnSpc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Train OLIVE across regional languages including Hindi, Tamil, and Bengali. Multilingual NLU models and entity mapping will allow OLIVE to serve India's diverse customer base without language barriers.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215942" y="523205"/>
            <a:ext cx="1048600" cy="21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3"/>
              </a:lnSpc>
              <a:spcBef>
                <a:spcPct val="0"/>
              </a:spcBef>
            </a:pPr>
            <a:r>
              <a:rPr lang="en-US" sz="12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622539" y="523205"/>
            <a:ext cx="969838" cy="21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3"/>
              </a:lnSpc>
              <a:spcBef>
                <a:spcPct val="0"/>
              </a:spcBef>
            </a:pPr>
            <a:r>
              <a:rPr lang="en-US" sz="1266">
                <a:solidFill>
                  <a:srgbClr val="00F0FF"/>
                </a:solidFill>
                <a:latin typeface="Canva Sans"/>
                <a:ea typeface="Canva Sans"/>
                <a:cs typeface="Canva Sans"/>
                <a:sym typeface="Canva Sans"/>
              </a:rPr>
              <a:t>About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49578" y="523205"/>
            <a:ext cx="1088008" cy="21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3"/>
              </a:lnSpc>
              <a:spcBef>
                <a:spcPct val="0"/>
              </a:spcBef>
            </a:pPr>
            <a:r>
              <a:rPr lang="en-US" sz="12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Gallery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594786" y="523205"/>
            <a:ext cx="1395225" cy="21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3"/>
              </a:lnSpc>
              <a:spcBef>
                <a:spcPct val="0"/>
              </a:spcBef>
            </a:pPr>
            <a:r>
              <a:rPr lang="en-US" sz="12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7468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81494" y="9319217"/>
            <a:ext cx="1319855" cy="47625"/>
            <a:chOff x="0" y="0"/>
            <a:chExt cx="347616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616" cy="12543"/>
            </a:xfrm>
            <a:custGeom>
              <a:avLst/>
              <a:gdLst/>
              <a:ahLst/>
              <a:cxnLst/>
              <a:rect r="r" b="b" t="t" l="l"/>
              <a:pathLst>
                <a:path h="12543" w="347616">
                  <a:moveTo>
                    <a:pt x="0" y="0"/>
                  </a:moveTo>
                  <a:lnTo>
                    <a:pt x="347616" y="0"/>
                  </a:lnTo>
                  <a:lnTo>
                    <a:pt x="34761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F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761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2391" y="2418482"/>
            <a:ext cx="6540865" cy="249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79"/>
              </a:lnSpc>
            </a:pPr>
            <a:r>
              <a:rPr lang="en-US" b="true" sz="145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8678" y="4200597"/>
            <a:ext cx="4528094" cy="249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79"/>
              </a:lnSpc>
            </a:pPr>
            <a:r>
              <a:rPr lang="en-US" b="true" sz="14556">
                <a:solidFill>
                  <a:srgbClr val="00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24834" y="1978540"/>
            <a:ext cx="2976010" cy="2943791"/>
            <a:chOff x="0" y="0"/>
            <a:chExt cx="901862" cy="892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1862" cy="892098"/>
            </a:xfrm>
            <a:custGeom>
              <a:avLst/>
              <a:gdLst/>
              <a:ahLst/>
              <a:cxnLst/>
              <a:rect r="r" b="b" t="t" l="l"/>
              <a:pathLst>
                <a:path h="892098" w="901862">
                  <a:moveTo>
                    <a:pt x="59833" y="0"/>
                  </a:moveTo>
                  <a:lnTo>
                    <a:pt x="842029" y="0"/>
                  </a:lnTo>
                  <a:cubicBezTo>
                    <a:pt x="857897" y="0"/>
                    <a:pt x="873116" y="6304"/>
                    <a:pt x="884337" y="17525"/>
                  </a:cubicBezTo>
                  <a:cubicBezTo>
                    <a:pt x="895558" y="28746"/>
                    <a:pt x="901862" y="43964"/>
                    <a:pt x="901862" y="59833"/>
                  </a:cubicBezTo>
                  <a:lnTo>
                    <a:pt x="901862" y="832265"/>
                  </a:lnTo>
                  <a:cubicBezTo>
                    <a:pt x="901862" y="848134"/>
                    <a:pt x="895558" y="863352"/>
                    <a:pt x="884337" y="874573"/>
                  </a:cubicBezTo>
                  <a:cubicBezTo>
                    <a:pt x="873116" y="885794"/>
                    <a:pt x="857897" y="892098"/>
                    <a:pt x="842029" y="892098"/>
                  </a:cubicBezTo>
                  <a:lnTo>
                    <a:pt x="59833" y="892098"/>
                  </a:lnTo>
                  <a:cubicBezTo>
                    <a:pt x="43964" y="892098"/>
                    <a:pt x="28746" y="885794"/>
                    <a:pt x="17525" y="874573"/>
                  </a:cubicBezTo>
                  <a:cubicBezTo>
                    <a:pt x="6304" y="863352"/>
                    <a:pt x="0" y="848134"/>
                    <a:pt x="0" y="832265"/>
                  </a:cubicBezTo>
                  <a:lnTo>
                    <a:pt x="0" y="59833"/>
                  </a:lnTo>
                  <a:cubicBezTo>
                    <a:pt x="0" y="43964"/>
                    <a:pt x="6304" y="28746"/>
                    <a:pt x="17525" y="17525"/>
                  </a:cubicBezTo>
                  <a:cubicBezTo>
                    <a:pt x="28746" y="6304"/>
                    <a:pt x="43964" y="0"/>
                    <a:pt x="59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01862" cy="93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37691" y="4599346"/>
            <a:ext cx="2115522" cy="2092619"/>
            <a:chOff x="0" y="0"/>
            <a:chExt cx="641096" cy="6341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1096" cy="634155"/>
            </a:xfrm>
            <a:custGeom>
              <a:avLst/>
              <a:gdLst/>
              <a:ahLst/>
              <a:cxnLst/>
              <a:rect r="r" b="b" t="t" l="l"/>
              <a:pathLst>
                <a:path h="634155" w="641096">
                  <a:moveTo>
                    <a:pt x="80511" y="0"/>
                  </a:moveTo>
                  <a:lnTo>
                    <a:pt x="560585" y="0"/>
                  </a:lnTo>
                  <a:cubicBezTo>
                    <a:pt x="581938" y="0"/>
                    <a:pt x="602416" y="8482"/>
                    <a:pt x="617515" y="23581"/>
                  </a:cubicBezTo>
                  <a:cubicBezTo>
                    <a:pt x="632614" y="38680"/>
                    <a:pt x="641096" y="59158"/>
                    <a:pt x="641096" y="80511"/>
                  </a:cubicBezTo>
                  <a:lnTo>
                    <a:pt x="641096" y="553645"/>
                  </a:lnTo>
                  <a:cubicBezTo>
                    <a:pt x="641096" y="598110"/>
                    <a:pt x="605050" y="634155"/>
                    <a:pt x="560585" y="634155"/>
                  </a:cubicBezTo>
                  <a:lnTo>
                    <a:pt x="80511" y="634155"/>
                  </a:lnTo>
                  <a:cubicBezTo>
                    <a:pt x="59158" y="634155"/>
                    <a:pt x="38680" y="625673"/>
                    <a:pt x="23581" y="610574"/>
                  </a:cubicBezTo>
                  <a:cubicBezTo>
                    <a:pt x="8482" y="595476"/>
                    <a:pt x="0" y="574997"/>
                    <a:pt x="0" y="553645"/>
                  </a:cubicBezTo>
                  <a:lnTo>
                    <a:pt x="0" y="80511"/>
                  </a:lnTo>
                  <a:cubicBezTo>
                    <a:pt x="0" y="36046"/>
                    <a:pt x="36046" y="0"/>
                    <a:pt x="8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DE">
                    <a:alpha val="0"/>
                  </a:srgbClr>
                </a:gs>
                <a:gs pos="100000">
                  <a:srgbClr val="0085E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1096" cy="672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DAHUTzfLK3Q</dc:identifier>
  <dcterms:modified xsi:type="dcterms:W3CDTF">2011-08-01T06:04:30Z</dcterms:modified>
  <cp:revision>1</cp:revision>
  <dc:title>OLIVE: Evidence-Driven AI Chatbot Presentation</dc:title>
</cp:coreProperties>
</file>